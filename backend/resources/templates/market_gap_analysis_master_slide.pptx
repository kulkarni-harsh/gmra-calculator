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67" r:id="rId3"/>
    <p:sldId id="268" r:id="rId4"/>
    <p:sldId id="261" r:id="rId5"/>
    <p:sldId id="270" r:id="rId6"/>
    <p:sldId id="269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B79"/>
    <a:srgbClr val="222C5E"/>
    <a:srgbClr val="1F1F1F"/>
    <a:srgbClr val="004B49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D670A-6B46-485E-91D6-59187EC7E97D}" type="datetimeFigureOut">
              <a:rPr lang="en-IN" smtClean="0"/>
              <a:t>10/01/26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4D3DD-598D-4DE3-94B8-CDDE6AE210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4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45BA0-52EE-F09F-AC43-F8E4E5F94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66070-FA8B-3A17-E1E8-3709BC68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FDEF5-C6A2-28B9-179F-3CDFA52B0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7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AD1B-F449-D1B1-4774-00BCBC476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36BD6-E0F5-E27E-C061-CB65D91B0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D4E6A-E855-D255-60E7-6F7164556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347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AD1B-F449-D1B1-4774-00BCBC476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D4E6A-E855-D255-60E7-6F71645568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CC83D3-C4D0-A347-5C02-5ECECF3A4D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284288"/>
            <a:ext cx="10515600" cy="47831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5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1661-2F07-EC10-D056-2E67111CA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14A1-FC27-75F9-5C85-C72F32448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8ADE7-AA70-F980-238D-73D3ACAFD0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7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732E-6705-098A-C44D-4AB768D8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2D58-2215-C5D3-ED68-1F076A6ADC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D87B9-2B29-C747-481C-AFBFABE73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E1C4C1-F3C1-4FE0-1E8F-CD0555647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71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C732E-6705-098A-C44D-4AB768D83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546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D87B9-2B29-C747-481C-AFBFABE73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39715"/>
            <a:ext cx="5181600" cy="4937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E1C4C1-F3C1-4FE0-1E8F-CD0555647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2C3FA80-F3BF-6B60-7B7B-E698235426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4616" y="1239715"/>
            <a:ext cx="5195185" cy="4937248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07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E2EB8-870C-A5C1-C221-4E21BB636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0C700-2026-A3CA-2EB7-37AE49E3A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87DA0-33FE-F775-7CC4-0938BD6A4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41190-34C2-8873-C7EC-88CD931A5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E48CC-7D0B-5466-72D5-650E08EDF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64F4AA2-71FD-C0D4-4208-83ACBF6A0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2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F4CE-7812-D13F-9CB3-4BFB4EC9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41AEF-F24B-AEA9-649D-155EDA726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97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6E054-7BBC-6ABC-C257-F5CD54290B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002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D608-0C12-6865-406F-16A710661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BA8FC-1C53-2024-BEBB-F90014FE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EB2904-294C-297C-1E26-12CCE1925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0B88A2-7415-0038-48AC-A69028FFD4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78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AFAF-3AA5-07B2-EDAF-5814EA70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B361E-5C5E-F92B-62FB-325629B82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67DBF-0C77-8833-5C5C-2D3E3444D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D8956E-CDD7-61D8-24FE-A623068AC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27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B39E-6E9E-652F-A880-16593B3E1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B2837-4E66-07DC-FD8B-CFFC025DD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F01A5-9F94-8599-494F-E7C1D41FA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064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762B79-1F61-6655-6500-750047B6A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558F7-3572-FADD-5945-78B2B450A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1458D-6842-5011-1523-28FD6C085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67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E0EFA-1CF4-E328-3156-4225E5B0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941A-4B80-6CB2-5334-A1867E1F2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16C2E82B-596F-D69C-4CD9-8AB923BF0A3C}"/>
              </a:ext>
            </a:extLst>
          </p:cNvPr>
          <p:cNvSpPr/>
          <p:nvPr userDrawn="1"/>
        </p:nvSpPr>
        <p:spPr>
          <a:xfrm>
            <a:off x="0" y="6334919"/>
            <a:ext cx="12192000" cy="523081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 sz="1200" b="1" kern="1200" dirty="0">
                <a:solidFill>
                  <a:srgbClr val="222C5E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1" kern="1200" dirty="0">
                <a:solidFill>
                  <a:srgbClr val="222C5E"/>
                </a:solidFill>
                <a:effectLst/>
                <a:latin typeface="+mn-lt"/>
                <a:ea typeface="+mn-ea"/>
                <a:cs typeface="+mn-cs"/>
              </a:rPr>
              <a:t>Representing Doctors Nationwide for over 25 years.</a:t>
            </a:r>
            <a:endParaRPr lang="en-IN" sz="1200" kern="1200" dirty="0">
              <a:solidFill>
                <a:srgbClr val="222C5E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10A67F-17A9-3AB4-5FF9-8D34705FD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5291" y="64228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DEAB3-5C5F-439B-9AE7-0F7E75DF461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2" name="Picture 11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7462915-F0C2-1FD2-0FB9-4EC080CE76F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273" y="5263116"/>
            <a:ext cx="2675784" cy="267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6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EBDAE-1902-2E36-8A98-FFA6B8796F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Market Gap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132C4-D3E1-0921-5994-5221558DD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{input_address_line_1} {input_address_line_2} {</a:t>
            </a:r>
            <a:r>
              <a:rPr lang="en-IN" dirty="0" err="1"/>
              <a:t>input_city</a:t>
            </a:r>
            <a:r>
              <a:rPr lang="en-IN" dirty="0"/>
              <a:t>}, {</a:t>
            </a:r>
            <a:r>
              <a:rPr lang="en-IN" dirty="0" err="1"/>
              <a:t>input_state</a:t>
            </a:r>
            <a:r>
              <a:rPr lang="en-IN" dirty="0"/>
              <a:t>} {</a:t>
            </a:r>
            <a:r>
              <a:rPr lang="en-IN" dirty="0" err="1"/>
              <a:t>input_zip_code</a:t>
            </a:r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Target Specialty: {</a:t>
            </a:r>
            <a:r>
              <a:rPr lang="en-IN" dirty="0" err="1"/>
              <a:t>input_target_specialty</a:t>
            </a:r>
            <a:r>
              <a:rPr lang="en-IN" dirty="0"/>
              <a:t>}</a:t>
            </a:r>
          </a:p>
          <a:p>
            <a:r>
              <a:rPr lang="en-IN" dirty="0"/>
              <a:t>Analysis within {radius} miles radius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0702-A48C-2C5D-9845-56F58D3784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0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B5AF-918C-0C04-29D6-DD364225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851"/>
            <a:ext cx="10515600" cy="918552"/>
          </a:xfrm>
        </p:spPr>
        <p:txBody>
          <a:bodyPr>
            <a:normAutofit/>
          </a:bodyPr>
          <a:lstStyle/>
          <a:p>
            <a:r>
              <a:rPr lang="en-IN" dirty="0"/>
              <a:t>Proposed Location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E61F92-F40F-ACD9-8B8E-E1339E50BD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35" y="970383"/>
            <a:ext cx="10819530" cy="52344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23B6E-DDAF-EAC9-EEDE-08F27240B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7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5608-EE60-8EAF-CD23-06D9C0760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1E24-84CB-8CED-B796-8672B0871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183"/>
            <a:ext cx="10515600" cy="918552"/>
          </a:xfrm>
        </p:spPr>
        <p:txBody>
          <a:bodyPr/>
          <a:lstStyle/>
          <a:p>
            <a:r>
              <a:rPr lang="en-IN" dirty="0"/>
              <a:t>Proposed Location Demographics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4522D-E2F0-08B4-8413-ADA9281C2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715" y="916116"/>
            <a:ext cx="9110565" cy="440768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DA6F66-6CA8-C496-23C1-7B098FFEB4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960612"/>
              </p:ext>
            </p:extLst>
          </p:nvPr>
        </p:nvGraphicFramePr>
        <p:xfrm>
          <a:off x="1017903" y="5323796"/>
          <a:ext cx="10156191" cy="9022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36442">
                  <a:extLst>
                    <a:ext uri="{9D8B030D-6E8A-4147-A177-3AD203B41FA5}">
                      <a16:colId xmlns:a16="http://schemas.microsoft.com/office/drawing/2014/main" val="74920532"/>
                    </a:ext>
                  </a:extLst>
                </a:gridCol>
                <a:gridCol w="6201996">
                  <a:extLst>
                    <a:ext uri="{9D8B030D-6E8A-4147-A177-3AD203B41FA5}">
                      <a16:colId xmlns:a16="http://schemas.microsoft.com/office/drawing/2014/main" val="2557258279"/>
                    </a:ext>
                  </a:extLst>
                </a:gridCol>
                <a:gridCol w="2417753">
                  <a:extLst>
                    <a:ext uri="{9D8B030D-6E8A-4147-A177-3AD203B41FA5}">
                      <a16:colId xmlns:a16="http://schemas.microsoft.com/office/drawing/2014/main" val="3336075559"/>
                    </a:ext>
                  </a:extLst>
                </a:gridCol>
              </a:tblGrid>
              <a:tr h="32233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# of Zip Codes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Zip Codes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Total Population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719211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dirty="0"/>
                        <a:t>{</a:t>
                      </a:r>
                      <a:r>
                        <a:rPr lang="en-IN" dirty="0" err="1"/>
                        <a:t>zip_count</a:t>
                      </a:r>
                      <a:r>
                        <a:rPr lang="en-IN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</a:t>
                      </a:r>
                      <a:r>
                        <a:rPr lang="en-IN" dirty="0" err="1"/>
                        <a:t>zip_codes_str</a:t>
                      </a:r>
                      <a:r>
                        <a:rPr lang="en-IN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</a:t>
                      </a:r>
                      <a:r>
                        <a:rPr lang="en-IN" dirty="0" err="1"/>
                        <a:t>total_population</a:t>
                      </a:r>
                      <a:r>
                        <a:rPr lang="en-IN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23883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E694A-8195-D5D1-0E3E-ACF11C200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35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7391-CCAE-8F33-DA2C-E9FAAFC0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AB46-A8CC-77C2-D851-F3F06D76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Gap Analysis (Demographic Capacity)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62A7803-706B-62FA-F29A-CDA60AF51C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902603"/>
              </p:ext>
            </p:extLst>
          </p:nvPr>
        </p:nvGraphicFramePr>
        <p:xfrm>
          <a:off x="838198" y="1567542"/>
          <a:ext cx="10515600" cy="4499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9139">
                  <a:extLst>
                    <a:ext uri="{9D8B030D-6E8A-4147-A177-3AD203B41FA5}">
                      <a16:colId xmlns:a16="http://schemas.microsoft.com/office/drawing/2014/main" val="3193763521"/>
                    </a:ext>
                  </a:extLst>
                </a:gridCol>
                <a:gridCol w="3629609">
                  <a:extLst>
                    <a:ext uri="{9D8B030D-6E8A-4147-A177-3AD203B41FA5}">
                      <a16:colId xmlns:a16="http://schemas.microsoft.com/office/drawing/2014/main" val="531215354"/>
                    </a:ext>
                  </a:extLst>
                </a:gridCol>
                <a:gridCol w="5456852">
                  <a:extLst>
                    <a:ext uri="{9D8B030D-6E8A-4147-A177-3AD203B41FA5}">
                      <a16:colId xmlns:a16="http://schemas.microsoft.com/office/drawing/2014/main" val="1711908733"/>
                    </a:ext>
                  </a:extLst>
                </a:gridCol>
              </a:tblGrid>
              <a:tr h="536510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Category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Metric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Data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29494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Supply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 Competition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num_providers</a:t>
                      </a:r>
                      <a:r>
                        <a:rPr lang="en-IN" b="1" dirty="0"/>
                        <a:t>}</a:t>
                      </a:r>
                      <a:r>
                        <a:rPr lang="en-IN" dirty="0"/>
                        <a:t> Providers (within </a:t>
                      </a:r>
                      <a:r>
                        <a:rPr lang="en-IN" b="1" dirty="0"/>
                        <a:t>{radius}</a:t>
                      </a:r>
                      <a:r>
                        <a:rPr lang="en-IN" dirty="0"/>
                        <a:t> miles)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78094"/>
                  </a:ext>
                </a:extLst>
              </a:tr>
              <a:tr h="536510">
                <a:tc rowSpan="2">
                  <a:txBody>
                    <a:bodyPr/>
                    <a:lstStyle/>
                    <a:p>
                      <a:r>
                        <a:rPr lang="en-IN" b="1" dirty="0"/>
                        <a:t>Demand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Target Population 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demographic_type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98133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Addressable 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relevant_population_count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75830"/>
                  </a:ext>
                </a:extLst>
              </a:tr>
              <a:tr h="536510">
                <a:tc rowSpan="2">
                  <a:txBody>
                    <a:bodyPr/>
                    <a:lstStyle/>
                    <a:p>
                      <a:r>
                        <a:rPr lang="en-IN" b="1" dirty="0"/>
                        <a:t>Gap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Market 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population_benchmark_density</a:t>
                      </a:r>
                      <a:r>
                        <a:rPr lang="en-IN" b="1" dirty="0"/>
                        <a:t>}</a:t>
                      </a:r>
                      <a:r>
                        <a:rPr lang="en-IN" dirty="0"/>
                        <a:t> providers / 100k population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642555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Current Density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population_actual_density</a:t>
                      </a:r>
                      <a:r>
                        <a:rPr lang="en-IN" b="1" dirty="0"/>
                        <a:t>}</a:t>
                      </a:r>
                      <a:r>
                        <a:rPr lang="en-IN" dirty="0"/>
                        <a:t> providers / 100k population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622437"/>
                  </a:ext>
                </a:extLst>
              </a:tr>
              <a:tr h="536510">
                <a:tc rowSpan="2">
                  <a:txBody>
                    <a:bodyPr/>
                    <a:lstStyle/>
                    <a:p>
                      <a:r>
                        <a:rPr lang="en-IN" b="1" dirty="0"/>
                        <a:t>Verdict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Opportunity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population_RAG_status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110480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Rationale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population_RAG_rationale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65739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ADC4DA-27F6-9AAF-CF32-124F13AF25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41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DEDC-2C8B-B09F-6113-E68F9785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A680-5F88-B89A-25A5-8D367E94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20073"/>
            <a:ext cx="10515600" cy="1325563"/>
          </a:xfrm>
        </p:spPr>
        <p:txBody>
          <a:bodyPr/>
          <a:lstStyle/>
          <a:p>
            <a:r>
              <a:rPr lang="en-IN" dirty="0"/>
              <a:t>Market Gap Analysis (Clinical Capacity)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2720735-7919-4794-A53C-B6F898060C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429946"/>
              </p:ext>
            </p:extLst>
          </p:nvPr>
        </p:nvGraphicFramePr>
        <p:xfrm>
          <a:off x="838198" y="1198663"/>
          <a:ext cx="10515600" cy="4292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9139">
                  <a:extLst>
                    <a:ext uri="{9D8B030D-6E8A-4147-A177-3AD203B41FA5}">
                      <a16:colId xmlns:a16="http://schemas.microsoft.com/office/drawing/2014/main" val="3193763521"/>
                    </a:ext>
                  </a:extLst>
                </a:gridCol>
                <a:gridCol w="3629609">
                  <a:extLst>
                    <a:ext uri="{9D8B030D-6E8A-4147-A177-3AD203B41FA5}">
                      <a16:colId xmlns:a16="http://schemas.microsoft.com/office/drawing/2014/main" val="531215354"/>
                    </a:ext>
                  </a:extLst>
                </a:gridCol>
                <a:gridCol w="5456852">
                  <a:extLst>
                    <a:ext uri="{9D8B030D-6E8A-4147-A177-3AD203B41FA5}">
                      <a16:colId xmlns:a16="http://schemas.microsoft.com/office/drawing/2014/main" val="1711908733"/>
                    </a:ext>
                  </a:extLst>
                </a:gridCol>
              </a:tblGrid>
              <a:tr h="536510"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Category</a:t>
                      </a:r>
                      <a:endParaRPr lang="en-IN" sz="1800" dirty="0"/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Metric</a:t>
                      </a:r>
                      <a:endParaRPr lang="en-IN" sz="1800" dirty="0"/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/>
                        <a:t>Data</a:t>
                      </a:r>
                      <a:endParaRPr lang="en-IN" sz="1800" dirty="0"/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29494"/>
                  </a:ext>
                </a:extLst>
              </a:tr>
              <a:tr h="536510">
                <a:tc rowSpan="3">
                  <a:txBody>
                    <a:bodyPr/>
                    <a:lstStyle/>
                    <a:p>
                      <a:r>
                        <a:rPr lang="en-IN" b="1" dirty="0"/>
                        <a:t>Supply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Local Competition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num_providers</a:t>
                      </a:r>
                      <a:r>
                        <a:rPr lang="en-IN" b="1" dirty="0"/>
                        <a:t>}</a:t>
                      </a:r>
                      <a:r>
                        <a:rPr lang="en-IN" dirty="0"/>
                        <a:t> Providers (within </a:t>
                      </a:r>
                      <a:r>
                        <a:rPr lang="en-IN" b="1" dirty="0"/>
                        <a:t>{radius}</a:t>
                      </a:r>
                      <a:r>
                        <a:rPr lang="en-IN" dirty="0"/>
                        <a:t> miles)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78094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Annual Anchor Target (per Provider)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benchmark_visit_count_per_provider</a:t>
                      </a:r>
                      <a:r>
                        <a:rPr lang="en-IN" b="1" dirty="0"/>
                        <a:t>} Visits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9116259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Total Market Anchor Capacity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benchmark_visit_total_count</a:t>
                      </a:r>
                      <a:r>
                        <a:rPr lang="en-IN" b="1" dirty="0"/>
                        <a:t>} Visits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5185430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/>
                        <a:t>Demand</a:t>
                      </a:r>
                      <a:endParaRPr lang="en-IN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Actual Market Anchor Visits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actual_visit_total_count</a:t>
                      </a:r>
                      <a:r>
                        <a:rPr lang="en-IN" b="1" dirty="0"/>
                        <a:t>} Visits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98133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Gap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Capacity Variance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benchmark_actual_visit_total_count_diff</a:t>
                      </a:r>
                      <a:r>
                        <a:rPr lang="en-IN" b="1" dirty="0"/>
                        <a:t>} Visits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642555"/>
                  </a:ext>
                </a:extLst>
              </a:tr>
              <a:tr h="536510">
                <a:tc rowSpan="2">
                  <a:txBody>
                    <a:bodyPr/>
                    <a:lstStyle/>
                    <a:p>
                      <a:r>
                        <a:rPr lang="en-IN" b="1"/>
                        <a:t>Verdict</a:t>
                      </a:r>
                      <a:endParaRPr lang="en-IN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Opportunity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visit_RAG_status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110480"/>
                  </a:ext>
                </a:extLst>
              </a:tr>
              <a:tr h="536510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Rationale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{</a:t>
                      </a:r>
                      <a:r>
                        <a:rPr lang="en-IN" b="1" dirty="0" err="1"/>
                        <a:t>visit_RAG_rationale</a:t>
                      </a:r>
                      <a:r>
                        <a:rPr lang="en-IN" b="1" dirty="0"/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65739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2B27F6-0D48-04F4-BDD3-FB127A8E6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93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63DC-CDD4-0293-DC9C-0D5479C6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00E2C-0C96-85A5-8D8A-21F90612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185"/>
          </a:xfrm>
        </p:spPr>
        <p:txBody>
          <a:bodyPr/>
          <a:lstStyle/>
          <a:p>
            <a:r>
              <a:rPr lang="en-IN" dirty="0"/>
              <a:t>Revenue Insight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5604D5-E636-60BD-BD0A-BBE555AA7F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40766"/>
          <a:ext cx="10515600" cy="32190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9139">
                  <a:extLst>
                    <a:ext uri="{9D8B030D-6E8A-4147-A177-3AD203B41FA5}">
                      <a16:colId xmlns:a16="http://schemas.microsoft.com/office/drawing/2014/main" val="3193763521"/>
                    </a:ext>
                  </a:extLst>
                </a:gridCol>
                <a:gridCol w="3629609">
                  <a:extLst>
                    <a:ext uri="{9D8B030D-6E8A-4147-A177-3AD203B41FA5}">
                      <a16:colId xmlns:a16="http://schemas.microsoft.com/office/drawing/2014/main" val="531215354"/>
                    </a:ext>
                  </a:extLst>
                </a:gridCol>
                <a:gridCol w="5456852">
                  <a:extLst>
                    <a:ext uri="{9D8B030D-6E8A-4147-A177-3AD203B41FA5}">
                      <a16:colId xmlns:a16="http://schemas.microsoft.com/office/drawing/2014/main" val="1711908733"/>
                    </a:ext>
                  </a:extLst>
                </a:gridCol>
              </a:tblGrid>
              <a:tr h="536510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CPT Code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Procedure Name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# of Procedures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29494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{CPT_1}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{CPT_1_desc}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{CPT_1_count}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78094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{CPT_2}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{CPT_2_desc}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{CPT_2_count}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98133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{CPT_3}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{CPT_3_desc}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{CPT_3_count}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775830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{CPT_4}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{CPT_4_desc}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{CPT_4_count}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642555"/>
                  </a:ext>
                </a:extLst>
              </a:tr>
              <a:tr h="536510">
                <a:tc>
                  <a:txBody>
                    <a:bodyPr/>
                    <a:lstStyle/>
                    <a:p>
                      <a:r>
                        <a:rPr lang="en-IN" b="1" dirty="0"/>
                        <a:t>{CPT_5}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{CPT_5_desc}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{CPT_5_count}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622437"/>
                  </a:ext>
                </a:extLst>
              </a:tr>
            </a:tbl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9508DB24-4787-DDCA-A9BF-66B7E5FF3DD8}"/>
              </a:ext>
            </a:extLst>
          </p:cNvPr>
          <p:cNvSpPr txBox="1">
            <a:spLocks/>
          </p:cNvSpPr>
          <p:nvPr/>
        </p:nvSpPr>
        <p:spPr>
          <a:xfrm>
            <a:off x="838200" y="1447518"/>
            <a:ext cx="10515600" cy="501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 Procedures in vicinity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420D-9BA4-23C3-8241-EE5A41AD3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6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F4875-010D-D610-9031-357D50D9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6CAB-35B5-769C-5525-DE50B750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7185"/>
          </a:xfrm>
        </p:spPr>
        <p:txBody>
          <a:bodyPr/>
          <a:lstStyle/>
          <a:p>
            <a:r>
              <a:rPr lang="en-IN" dirty="0"/>
              <a:t>Nearby Providers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778CC53-5B87-0270-33BD-3B0CB65AC9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1390702"/>
              </p:ext>
            </p:extLst>
          </p:nvPr>
        </p:nvGraphicFramePr>
        <p:xfrm>
          <a:off x="580830" y="1222310"/>
          <a:ext cx="11030340" cy="457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44117">
                  <a:extLst>
                    <a:ext uri="{9D8B030D-6E8A-4147-A177-3AD203B41FA5}">
                      <a16:colId xmlns:a16="http://schemas.microsoft.com/office/drawing/2014/main" val="3193763521"/>
                    </a:ext>
                  </a:extLst>
                </a:gridCol>
                <a:gridCol w="4386083">
                  <a:extLst>
                    <a:ext uri="{9D8B030D-6E8A-4147-A177-3AD203B41FA5}">
                      <a16:colId xmlns:a16="http://schemas.microsoft.com/office/drawing/2014/main" val="531215354"/>
                    </a:ext>
                  </a:extLst>
                </a:gridCol>
                <a:gridCol w="4422015">
                  <a:extLst>
                    <a:ext uri="{9D8B030D-6E8A-4147-A177-3AD203B41FA5}">
                      <a16:colId xmlns:a16="http://schemas.microsoft.com/office/drawing/2014/main" val="1711908733"/>
                    </a:ext>
                  </a:extLst>
                </a:gridCol>
                <a:gridCol w="1478125">
                  <a:extLst>
                    <a:ext uri="{9D8B030D-6E8A-4147-A177-3AD203B41FA5}">
                      <a16:colId xmlns:a16="http://schemas.microsoft.com/office/drawing/2014/main" val="883296342"/>
                    </a:ext>
                  </a:extLst>
                </a:gridCol>
              </a:tblGrid>
              <a:tr h="273498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Sr. No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Provider Name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Address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Distance (miles)</a:t>
                      </a:r>
                    </a:p>
                  </a:txBody>
                  <a:tcPr anchor="ctr">
                    <a:solidFill>
                      <a:srgbClr val="1F3B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62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{sr_1}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{prov_1_name}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{prov_1_address}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{prov_1_dis}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78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{sr_2}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{prov_2_name}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{prov_2_address}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{prov_2_dis}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08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{sr_3}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{prov_3_name}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{prov_3_address}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{prov_3_dis}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106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{sr_4}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{prov_4_name}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{prov_4_address}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{prov_4_dis}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836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{sr_5}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{prov_5_name}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{prov_5_address}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{prov_5_dis}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1844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{sr_6}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{prov_6_name}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{prov_6_address}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{prov_6_dis}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6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{sr_7}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{prov_7_name}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{prov_7_address}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{prov_7_dis}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2094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{sr_8}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{prov_8_name}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{prov_8_address}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{prov_8_dis}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086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{sr_9}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{prov_9_name}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{prov_9_address}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{prov_9_dis}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79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{sr_10}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{prov_10_name}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{prov_10_address}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{prov_10_dis}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705394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6D719-3181-9252-B6CC-356687E57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91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5286-4245-7C55-14B3-58FDD3417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8011C-864D-233C-D851-83D5C87F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86F2C-7652-89A2-3A6F-6705DBE4DB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DEAB3-5C5F-439B-9AE7-0F7E75DF4612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3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GMRA</Template>
  <TotalTime>487</TotalTime>
  <Words>674</Words>
  <Application>Microsoft Macintosh PowerPoint</Application>
  <PresentationFormat>Widescreen</PresentationFormat>
  <Paragraphs>131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Market Gap Analysis</vt:lpstr>
      <vt:lpstr>Proposed Location</vt:lpstr>
      <vt:lpstr>Proposed Location Demographics</vt:lpstr>
      <vt:lpstr>Market Gap Analysis (Demographic Capacity)</vt:lpstr>
      <vt:lpstr>Market Gap Analysis (Clinical Capacity)</vt:lpstr>
      <vt:lpstr>Revenue Insight</vt:lpstr>
      <vt:lpstr>Nearby Providers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Kulkarni</dc:creator>
  <cp:lastModifiedBy>Harsh Kulkarni</cp:lastModifiedBy>
  <cp:revision>18</cp:revision>
  <dcterms:created xsi:type="dcterms:W3CDTF">2025-12-20T05:37:02Z</dcterms:created>
  <dcterms:modified xsi:type="dcterms:W3CDTF">2026-01-10T12:18:20Z</dcterms:modified>
</cp:coreProperties>
</file>